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645920"/>
            <a:ext cx="9418320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메인 에이전트 (통합 분석)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AC2DE"/>
                </a:solidFill>
              </a:rPr>
              <a:t>뉴스 · 공시 · 재무 서브에이전트를 병렬 호출하여
종합 투자 시그널과 LLM 분석 요약을 반환하는 오케스트레이터 에이전트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4572000"/>
            <a:ext cx="2011680" cy="4114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4572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A6E3A1"/>
                </a:solidFill>
              </a:rPr>
              <a:t>gpt-5-mini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4572000"/>
            <a:ext cx="2011680" cy="4114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4572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9B4FA"/>
                </a:solidFill>
              </a:rPr>
              <a:t>LangGraph RAG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4572000"/>
            <a:ext cx="2011680" cy="4114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4572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9E2AF"/>
                </a:solidFill>
              </a:rPr>
              <a:t>PostgreSQL 캐시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AC2DE"/>
                </a:solidFill>
              </a:rPr>
              <a:t>stock-supporters-backend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9B4FA"/>
                </a:solidFill>
              </a:rPr>
              <a:t>아키텍처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C2DE"/>
                </a:solidFill>
              </a:rPr>
              <a:t>POST /api/v1/agent/query 요청 처리 과정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577840" cy="14630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64008" cy="14630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9B4FA"/>
                </a:solidFill>
              </a:rPr>
              <a:t>① 인증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AC2DE"/>
                </a:solidFill>
              </a:rPr>
              <a:t>쿠키 / 쿼리 파라미터 / Authorization 헤더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577840" cy="14630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64008" cy="146304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898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9E2AF"/>
                </a:solidFill>
              </a:rPr>
              <a:t>② 캐시 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AC2DE"/>
                </a:solidFill>
              </a:rPr>
              <a:t>PostgreSQL — 동일 ticker 1시간 이내 결과 재사용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71800"/>
            <a:ext cx="5577840" cy="14630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971800"/>
            <a:ext cx="64008" cy="146304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815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6E3A1"/>
                </a:solidFill>
              </a:rPr>
              <a:t>③ 병렬 호출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661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AC2DE"/>
                </a:solidFill>
              </a:rPr>
              <a:t>asyncio.gather() → 뉴스 · 공시 · 재무 동시 실행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971800"/>
            <a:ext cx="5577840" cy="14630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971800"/>
            <a:ext cx="64008" cy="14630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0815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9B4FA"/>
                </a:solidFill>
              </a:rPr>
              <a:t>④ 시그널 집계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661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AC2DE"/>
                </a:solidFill>
              </a:rPr>
              <a:t>가중 평균: Σ(signal × confidence) / Σ(confidence)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663440"/>
            <a:ext cx="5577840" cy="14630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663440"/>
            <a:ext cx="64008" cy="146304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7731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9E2AF"/>
                </a:solidFill>
              </a:rPr>
              <a:t>⑤ LLM 종합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578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AC2DE"/>
                </a:solidFill>
              </a:rPr>
              <a:t>OpenAISynthesisClient (gpt-5-mini) → summary + key_points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663440"/>
            <a:ext cx="5577840" cy="14630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663440"/>
            <a:ext cx="64008" cy="146304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7731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6E3A1"/>
                </a:solidFill>
              </a:rPr>
              <a:t>⑥ 저장 및 반환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2578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AC2DE"/>
                </a:solidFill>
              </a:rPr>
              <a:t>integrated_analysis_results INSERT → FrontendAgentResponse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9B4FA"/>
                </a:solidFill>
              </a:rPr>
              <a:t>서브에이전트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C2DE"/>
                </a:solidFill>
              </a:rPr>
              <a:t>각 에이전트의 데이터 소스 · 기술 · 응답 시간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52120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4572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1E2E"/>
                </a:solidFill>
              </a:rPr>
              <a:t>뉴스 에이전트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3429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네이버 뉴스 API 수집 (8개 종목)
• OpenAI gpt-5-mini 감성 분석
• 최신 기사 우선 가중
• DB 없으면 자동 수집 후 재분석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83480"/>
            <a:ext cx="3291840" cy="54864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12064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E3A1"/>
                </a:solidFill>
              </a:rPr>
              <a:t>⏱  8 ~ 12 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657600" cy="52120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3657600" cy="4572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1E2E"/>
                </a:solidFill>
              </a:rPr>
              <a:t>공시 에이전트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28800"/>
            <a:ext cx="3429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DART API → 공시 수집 및 저장
• LangGraph RAG (gpt-5-mini)
• 3가지 분석 타입 (full/signal/flow)
• Redis 캐시 1시간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4983480"/>
            <a:ext cx="3291840" cy="54864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512064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9E2AF"/>
                </a:solidFill>
              </a:rPr>
              <a:t>⏱  캐시 ~500ms / RAG 7~20초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188720"/>
            <a:ext cx="3657600" cy="52120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657600" cy="4572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1E2E"/>
                </a:solidFill>
              </a:rPr>
              <a:t>재무 에이전트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828800"/>
            <a:ext cx="3429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SerpAPI + DART 재무비율 수집
• pgvector 코사인 유사도 검색
• LangGraph RAG (gpt-5-mini)
• 첫 종목 자동 수집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4983480"/>
            <a:ext cx="3291840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512064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9B4FA"/>
                </a:solidFill>
              </a:rPr>
              <a:t>⏱  캐시 ~1초 / 첫 분석 40~60초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9B4FA"/>
                </a:solidFill>
              </a:rPr>
              <a:t>엔드포인트 스펙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94960" cy="52120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6E3A1"/>
                </a:solidFill>
              </a:rPr>
              <a:t>POST  /api/v1/agent/query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5648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AC2DE"/>
                </a:solidFill>
              </a:rPr>
              <a:t>요청 Body:
  ticker     종목 코드 (예: 005930)
  query      사용자 질문
응답 주요 필드:
  result_status  success | partial_failure | failure
  answer         LLM 종합 요약
  agent_results  서브에이전트별 결과 배열
    ├ agent_name   news | disclosure | finance
    ├ signal       bullish | bearish | neutral
    ├ confidence   0.0 ~ 1.0
    ├ summary      에이전트 분석 요약
    └ key_points   핵심 포인트 리스트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94960" cy="24688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GET  /api/v1/agent/history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55648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AC2DE"/>
                </a:solidFill>
              </a:rPr>
              <a:t>파라미터:
  ticker  종목 코드 (필수)
  limit   최대 50건 (기본 10)
응답: 최근 분석 이력 배열
  overall_signal, confidence,
  summary, key_points, created_at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794760"/>
            <a:ext cx="5394960" cy="26060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8587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E2AF"/>
                </a:solidFill>
              </a:rPr>
              <a:t>인증 방식 (공통)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370832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AC2DE"/>
                </a:solidFill>
              </a:rPr>
              <a:t>① 쿼리 파라미터:  ?token={uuid}
② 쿠키:           user_token
③ 헤더:           Authorization: Bearer {uuid}
미인증 시 401 → 프론트 로그인 페이지 redirect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9B4FA"/>
                </a:solidFill>
              </a:rPr>
              <a:t>시그널 집계 &amp; DB 테이블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94960" cy="52120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시그널 가중 집계 로직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score = Σ(signal_score × confidence)
         / Σ(confidence)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5120640" cy="457200"/>
          </a:xfrm>
          <a:prstGeom prst="rect">
            <a:avLst/>
          </a:prstGeom>
          <a:solidFill>
            <a:srgbClr val="2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7121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</a:rPr>
              <a:t>+1.0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87121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bullish  →  매수 신호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5120640" cy="457200"/>
          </a:xfrm>
          <a:prstGeom prst="rect">
            <a:avLst/>
          </a:prstGeom>
          <a:solidFill>
            <a:srgbClr val="2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1985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AC2DE"/>
                </a:solidFill>
              </a:rPr>
              <a:t> 0.0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41985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neutral  →  관망 신호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5120640" cy="457200"/>
          </a:xfrm>
          <a:prstGeom prst="rect">
            <a:avLst/>
          </a:prstGeom>
          <a:solidFill>
            <a:srgbClr val="2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6849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8BA8"/>
                </a:solidFill>
              </a:rPr>
              <a:t>-1.0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96849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bearish  →  매도 신호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2628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AC2DE"/>
                </a:solidFill>
              </a:rPr>
              <a:t>판정 기준:
  score &gt; +0.2  →  bullish
  score &lt; −0.2  →  bearish
  그 외          →  neutral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188720"/>
            <a:ext cx="5394960" cy="52120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2618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E2AF"/>
                </a:solidFill>
              </a:rPr>
              <a:t>integrated_analysis_results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1783080"/>
            <a:ext cx="5303520" cy="512064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837943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9B4FA"/>
                </a:solidFill>
              </a:rPr>
              <a:t>ticker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37943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E2AF"/>
                </a:solidFill>
              </a:rPr>
              <a:t>VARCHAR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837943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종목 코드 (인덱스)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350008"/>
            <a:ext cx="5303520" cy="512064"/>
          </a:xfrm>
          <a:prstGeom prst="rect">
            <a:avLst/>
          </a:prstGeom>
          <a:solidFill>
            <a:srgbClr val="2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40487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9B4FA"/>
                </a:solidFill>
              </a:rPr>
              <a:t>overall_signal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40487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E2AF"/>
                </a:solidFill>
              </a:rPr>
              <a:t>VARCHAR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40487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bullish / bearish / neutral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2916936"/>
            <a:ext cx="5303520" cy="512064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97180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9B4FA"/>
                </a:solidFill>
              </a:rPr>
              <a:t>confidence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97180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E2AF"/>
                </a:solidFill>
              </a:rPr>
              <a:t>FLOAT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971800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0.0 ~ 1.0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483863"/>
            <a:ext cx="5303520" cy="512064"/>
          </a:xfrm>
          <a:prstGeom prst="rect">
            <a:avLst/>
          </a:prstGeom>
          <a:solidFill>
            <a:srgbClr val="2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53872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9B4FA"/>
                </a:solidFill>
              </a:rPr>
              <a:t>summary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538727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E2AF"/>
                </a:solidFill>
              </a:rPr>
              <a:t>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538727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LLM 종합 요약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4050791"/>
            <a:ext cx="5303520" cy="512064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105655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9B4FA"/>
                </a:solidFill>
              </a:rPr>
              <a:t>key_points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105655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E2AF"/>
                </a:solidFill>
              </a:rPr>
              <a:t>JSON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4105655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핵심 포인트 리스트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4617720"/>
            <a:ext cx="5303520" cy="512064"/>
          </a:xfrm>
          <a:prstGeom prst="rect">
            <a:avLst/>
          </a:prstGeom>
          <a:solidFill>
            <a:srgbClr val="24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4672583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9B4FA"/>
                </a:solidFill>
              </a:rPr>
              <a:t>sub_results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672583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E2AF"/>
                </a:solidFill>
              </a:rPr>
              <a:t>JSON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4672583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서브에이전트 결과 전체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6520" y="5184648"/>
            <a:ext cx="5303520" cy="512064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523951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9B4FA"/>
                </a:solidFill>
              </a:rPr>
              <a:t>created_at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523951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E2AF"/>
                </a:solidFill>
              </a:rPr>
              <a:t>DATETIME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523951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생성 시각 (캐시 기준)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897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※ 캐시: created_at 기준 1시간 이내 재사용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9B4FA"/>
                </a:solidFill>
              </a:rPr>
              <a:t>분석 가능 종목 (8개)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C2DE"/>
                </a:solidFill>
              </a:rPr>
              <a:t>뉴스 에이전트 지원 종목 — 공시·재무 에이전트는 모든 종목 지원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788920" cy="23317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788920" cy="384048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1E2E"/>
                </a:solidFill>
              </a:rPr>
              <a:t>삼성전자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6420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E3A1"/>
                </a:solidFill>
              </a:rPr>
              <a:t>005930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933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반도체 · 전자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2316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"삼성전자 투자해도 될까요?"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188720"/>
            <a:ext cx="2788920" cy="23317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188720"/>
            <a:ext cx="2788920" cy="38404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18872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1E2E"/>
                </a:solidFill>
              </a:rPr>
              <a:t>SK하이닉스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66420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9B4FA"/>
                </a:solidFill>
              </a:rPr>
              <a:t>000660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9933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HBM · 메모리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42316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"HBM 실적 기대되는데 투자해도 될까?"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2788920" cy="23317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188720"/>
            <a:ext cx="2788920" cy="384048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18872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1E2E"/>
                </a:solidFill>
              </a:rPr>
              <a:t>현대차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166420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</a:rPr>
              <a:t>005380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19933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전기차 · 모빌리티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42316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"전기차 전환 어떻게 보고 있어?"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188720"/>
            <a:ext cx="2788920" cy="23317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1188720"/>
            <a:ext cx="2788920" cy="384048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118872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1E2E"/>
                </a:solidFill>
              </a:rPr>
              <a:t>네이버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166420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E3A1"/>
                </a:solidFill>
              </a:rPr>
              <a:t>035420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19933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AI · 플랫폼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42316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"AI 사업 성장 가능성 어때?"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840480"/>
            <a:ext cx="2788920" cy="23317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840480"/>
            <a:ext cx="2788920" cy="38404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8404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1E2E"/>
                </a:solidFill>
              </a:rPr>
              <a:t>카카오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31596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9B4FA"/>
                </a:solidFill>
              </a:rPr>
              <a:t>035720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64515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플랫폼 · 콘텐츠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07492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"지금 저점 매수 타이밍일까?"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6120" y="3840480"/>
            <a:ext cx="2788920" cy="23317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46120" y="3840480"/>
            <a:ext cx="2788920" cy="384048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46120" y="38404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1E2E"/>
                </a:solidFill>
              </a:rPr>
              <a:t>셀트리온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431596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</a:rPr>
              <a:t>068270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464515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바이오시밀러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507492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"바이오시밀러 전망은?"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840480"/>
            <a:ext cx="2788920" cy="23317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3840480"/>
            <a:ext cx="2788920" cy="384048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38404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1E2E"/>
                </a:solidFill>
              </a:rPr>
              <a:t>삼성바이오로직스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59" y="431596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E3A1"/>
                </a:solidFill>
              </a:rPr>
              <a:t>207940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59" y="464515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CMO · 바이오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59" y="507492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"장기 투자 괜찮을까?"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9720" y="3840480"/>
            <a:ext cx="2788920" cy="23317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89720" y="3840480"/>
            <a:ext cx="2788920" cy="38404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20" y="38404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1E2E"/>
                </a:solidFill>
              </a:rPr>
              <a:t>포스코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431596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9B4FA"/>
                </a:solidFill>
              </a:rPr>
              <a:t>005490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60" y="464515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2차전지 · 철강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507492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"2차전지 소재 사업 어때?"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※ 새 종목 추가: TICKER_TO_KEYWORDS &amp; COLLECTION_KEYWORDS 두 곳 모두 수정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